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365760" cy="27432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502920"/>
            <a:ext cx="27432" cy="365760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4" name="Shape 2"/>
          <p:cNvSpPr/>
          <p:nvPr/>
        </p:nvSpPr>
        <p:spPr>
          <a:xfrm>
            <a:off x="11320272" y="502920"/>
            <a:ext cx="365760" cy="27432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5" name="Shape 3"/>
          <p:cNvSpPr/>
          <p:nvPr/>
        </p:nvSpPr>
        <p:spPr>
          <a:xfrm>
            <a:off x="11658600" y="502920"/>
            <a:ext cx="27432" cy="365760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6327648"/>
            <a:ext cx="365760" cy="27432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5989320"/>
            <a:ext cx="27432" cy="365760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8" name="Shape 6"/>
          <p:cNvSpPr/>
          <p:nvPr/>
        </p:nvSpPr>
        <p:spPr>
          <a:xfrm>
            <a:off x="11320272" y="6327648"/>
            <a:ext cx="365760" cy="27432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9" name="Shape 7"/>
          <p:cNvSpPr/>
          <p:nvPr/>
        </p:nvSpPr>
        <p:spPr>
          <a:xfrm>
            <a:off x="11658600" y="5989320"/>
            <a:ext cx="27432" cy="365760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10" name="Shape 8"/>
          <p:cNvSpPr/>
          <p:nvPr/>
        </p:nvSpPr>
        <p:spPr>
          <a:xfrm>
            <a:off x="5710428" y="1234440"/>
            <a:ext cx="768096" cy="768096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11" name="Image 0" descr="/Users/mahadev/Downloads/ProofSnap-main/pitch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9409" y="1403421"/>
            <a:ext cx="430134" cy="43013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0" y="228600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VERILENS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0" y="3310128"/>
            <a:ext cx="1218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/ AI-Generated Image Detector for KYC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253996" y="39776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single confidence score. A forensic evidence system — per-lane reasoning,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“I don’t know,” and a tamper-proof audit trail.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31436" y="5074920"/>
            <a:ext cx="2926080" cy="12802"/>
          </a:xfrm>
          <a:prstGeom prst="rect">
            <a:avLst/>
          </a:prstGeom>
          <a:solidFill>
            <a:srgbClr val="1E3A4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0" y="52578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Deepfake / AI-Generated Image Detector for KYC  ·  Cybersecurity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0" y="62636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Gen-AI Hackathon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KYC identity checks were built for a world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photo was hard to fake.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2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world is gone.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179064" cy="2286000"/>
          </a:xfrm>
          <a:prstGeom prst="roundRect">
            <a:avLst>
              <a:gd name="adj" fmla="val 4000"/>
            </a:avLst>
          </a:prstGeom>
          <a:solidFill>
            <a:srgbClr val="1231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71216"/>
            <a:ext cx="27218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2D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114800"/>
            <a:ext cx="2721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global fraud in 2026 is deepfake-driven — up from 7% in 2024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047744" y="2743200"/>
            <a:ext cx="3179064" cy="2286000"/>
          </a:xfrm>
          <a:prstGeom prst="roundRect">
            <a:avLst>
              <a:gd name="adj" fmla="val 4000"/>
            </a:avLst>
          </a:prstGeom>
          <a:solidFill>
            <a:srgbClr val="1231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276344" y="2871216"/>
            <a:ext cx="27218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5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+2,665%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276344" y="4114800"/>
            <a:ext cx="2721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surge in native virtual-camera injection attacks (iProov, 2026)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546848" y="2743200"/>
            <a:ext cx="3179064" cy="2286000"/>
          </a:xfrm>
          <a:prstGeom prst="roundRect">
            <a:avLst>
              <a:gd name="adj" fmla="val 4000"/>
            </a:avLst>
          </a:prstGeom>
          <a:solidFill>
            <a:srgbClr val="1231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5448" y="2871216"/>
            <a:ext cx="27218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4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$20/mo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7775448" y="4114800"/>
            <a:ext cx="2721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 real-time face-swap + camera injection as fraud-as-a-service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3492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hackathon team will show a photo, and a percentage. That answers the wrong question — the real attack is injecting a synthetic image at the exact point a bank trusts the camera.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CROWDED FIELD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generic detector looks like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0149840" cy="932688"/>
          </a:xfrm>
          <a:prstGeom prst="roundRect">
            <a:avLst>
              <a:gd name="adj" fmla="val 7843"/>
            </a:avLst>
          </a:prstGeom>
          <a:solidFill>
            <a:srgbClr val="F0F4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176272"/>
            <a:ext cx="512064" cy="512064"/>
          </a:xfrm>
          <a:prstGeom prst="ellipse">
            <a:avLst/>
          </a:prstGeom>
          <a:solidFill>
            <a:srgbClr val="8CA0AE"/>
          </a:solidFill>
          <a:ln/>
        </p:spPr>
      </p:sp>
      <p:pic>
        <p:nvPicPr>
          <p:cNvPr id="6" name="Image 0" descr="/Users/mahadev/Downloads/ProofSnap-main/pitch/icons/eyesl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2291486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057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image in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203911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161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pairing to an identity document — detects a photo, not a KYC applicant.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3008376"/>
            <a:ext cx="10149840" cy="932688"/>
          </a:xfrm>
          <a:prstGeom prst="roundRect">
            <a:avLst>
              <a:gd name="adj" fmla="val 7843"/>
            </a:avLst>
          </a:prstGeom>
          <a:solidFill>
            <a:srgbClr val="F0F4F7"/>
          </a:solidFill>
          <a:ln/>
        </p:spPr>
      </p:sp>
      <p:sp>
        <p:nvSpPr>
          <p:cNvPr id="10" name="Shape 7"/>
          <p:cNvSpPr/>
          <p:nvPr/>
        </p:nvSpPr>
        <p:spPr>
          <a:xfrm>
            <a:off x="777240" y="3218688"/>
            <a:ext cx="512064" cy="512064"/>
          </a:xfrm>
          <a:prstGeom prst="ellipse">
            <a:avLst/>
          </a:prstGeom>
          <a:solidFill>
            <a:srgbClr val="8CA0AE"/>
          </a:solidFill>
          <a:ln/>
        </p:spPr>
      </p:sp>
      <p:pic>
        <p:nvPicPr>
          <p:cNvPr id="11" name="Image 1" descr="/Users/mahadev/Downloads/ProofSnap-main/pitch/icons/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333390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30998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opaque number out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3081528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161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“87% fake.” No region, no signal, nothing a compliance officer can act on.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50792"/>
            <a:ext cx="10149840" cy="932688"/>
          </a:xfrm>
          <a:prstGeom prst="roundRect">
            <a:avLst>
              <a:gd name="adj" fmla="val 7843"/>
            </a:avLst>
          </a:prstGeom>
          <a:solidFill>
            <a:srgbClr val="F0F4F7"/>
          </a:solidFill>
          <a:ln/>
        </p:spPr>
      </p:sp>
      <p:sp>
        <p:nvSpPr>
          <p:cNvPr id="15" name="Shape 11"/>
          <p:cNvSpPr/>
          <p:nvPr/>
        </p:nvSpPr>
        <p:spPr>
          <a:xfrm>
            <a:off x="777240" y="4261104"/>
            <a:ext cx="512064" cy="512064"/>
          </a:xfrm>
          <a:prstGeom prst="ellipse">
            <a:avLst/>
          </a:prstGeom>
          <a:solidFill>
            <a:srgbClr val="8CA0AE"/>
          </a:solidFill>
          <a:ln/>
        </p:spPr>
      </p:sp>
      <p:pic>
        <p:nvPicPr>
          <p:cNvPr id="16" name="Image 2" descr="/Users/mahadev/Downloads/ProofSnap-main/pitch/icons/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4376318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41422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binary guess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0" y="4123944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161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Blurry or compressed input still gets a confident verdict — no way to say “unsure.”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5093208"/>
            <a:ext cx="10149840" cy="932688"/>
          </a:xfrm>
          <a:prstGeom prst="roundRect">
            <a:avLst>
              <a:gd name="adj" fmla="val 7843"/>
            </a:avLst>
          </a:prstGeom>
          <a:solidFill>
            <a:srgbClr val="F0F4F7"/>
          </a:solidFill>
          <a:ln/>
        </p:spPr>
      </p:sp>
      <p:sp>
        <p:nvSpPr>
          <p:cNvPr id="20" name="Shape 15"/>
          <p:cNvSpPr/>
          <p:nvPr/>
        </p:nvSpPr>
        <p:spPr>
          <a:xfrm>
            <a:off x="777240" y="5303520"/>
            <a:ext cx="512064" cy="512064"/>
          </a:xfrm>
          <a:prstGeom prst="ellipse">
            <a:avLst/>
          </a:prstGeom>
          <a:solidFill>
            <a:srgbClr val="8CA0AE"/>
          </a:solidFill>
          <a:ln/>
        </p:spPr>
      </p:sp>
      <p:pic>
        <p:nvPicPr>
          <p:cNvPr id="21" name="Image 3" descr="/Users/mahadev/Downloads/ProofSnap-main/pitch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5418734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51846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to the real attack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0" y="5166360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161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Global-artifact detectors miss local edits — exactly what fraudsters use (next slide).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WE BUILD 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Published detectors don’t fail randomly.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fail in one specific, documented way.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66928" cy="566928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5" name="Image 0" descr="/Users/mahadev/Downloads/ProofSnap-main/pitch/icons/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364" y="2273564"/>
            <a:ext cx="317480" cy="317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19456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2602.00192 — “AI-Generated Image Detectors Overrely on Global Artifacts”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269748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learn a global VAE spectral shift left across the WHOLE image by inpainting — not the synthesised content itself. “Inpainting Exchange” (INP-X) restores original pixels outside the edited region, isolating that shortcut.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3611880"/>
            <a:ext cx="4892040" cy="1417320"/>
          </a:xfrm>
          <a:prstGeom prst="roundRect">
            <a:avLst>
              <a:gd name="adj" fmla="val 6452"/>
            </a:avLst>
          </a:prstGeom>
          <a:solidFill>
            <a:srgbClr val="1231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3758184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inpainting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0690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D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~91%</a:t>
            </a:r>
            <a:endParaRPr lang="en-US" sz="4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70916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Sightengine &amp; Hive accuracy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897880" y="3611880"/>
            <a:ext cx="4892040" cy="1417320"/>
          </a:xfrm>
          <a:prstGeom prst="roundRect">
            <a:avLst>
              <a:gd name="adj" fmla="val 6452"/>
            </a:avLst>
          </a:prstGeom>
          <a:solidFill>
            <a:srgbClr val="1231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72200" y="3758184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INP-X exchanged images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40690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5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~55%</a:t>
            </a:r>
            <a:endParaRPr lang="en-US" sz="4600" dirty="0"/>
          </a:p>
        </p:txBody>
      </p:sp>
      <p:sp>
        <p:nvSpPr>
          <p:cNvPr id="15" name="Text 12"/>
          <p:cNvSpPr txBox="1"/>
          <p:nvPr/>
        </p:nvSpPr>
        <p:spPr>
          <a:xfrm>
            <a:off x="6172200" y="470916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level — a coin flip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257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22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fix published (FUSED, Aug 2026) explicitly excludes face manipulation. Faces are exactly what KYC checks — and the paper shows faces have the narrowest global-artifact shortcut, i.e. the domain where this blind spot matters most.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evidence lanes. One accountable judge.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847088" cy="2788920"/>
          </a:xfrm>
          <a:prstGeom prst="roundRect">
            <a:avLst>
              <a:gd name="adj" fmla="val 4455"/>
            </a:avLst>
          </a:prstGeom>
          <a:solidFill>
            <a:srgbClr val="F0F4F7"/>
          </a:solidFill>
          <a:ln/>
        </p:spPr>
      </p:sp>
      <p:sp>
        <p:nvSpPr>
          <p:cNvPr id="5" name="Shape 3"/>
          <p:cNvSpPr/>
          <p:nvPr/>
        </p:nvSpPr>
        <p:spPr>
          <a:xfrm>
            <a:off x="1216152" y="2185416"/>
            <a:ext cx="512064" cy="51206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6" name="Image 0" descr="/Users/mahadev/Downloads/ProofSnap-main/pitch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3927" y="2303191"/>
            <a:ext cx="276515" cy="27651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283464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A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3081528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Synthesis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76656" y="3593592"/>
            <a:ext cx="15910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Patch-level, trained on INP-X exchanged images — reads content, not the global shortcut.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519172" y="1965960"/>
            <a:ext cx="1847088" cy="2788920"/>
          </a:xfrm>
          <a:prstGeom prst="roundRect">
            <a:avLst>
              <a:gd name="adj" fmla="val 4455"/>
            </a:avLst>
          </a:prstGeom>
          <a:solidFill>
            <a:srgbClr val="F0F4F7"/>
          </a:solidFill>
          <a:ln/>
        </p:spPr>
      </p:sp>
      <p:sp>
        <p:nvSpPr>
          <p:cNvPr id="11" name="Shape 8"/>
          <p:cNvSpPr/>
          <p:nvPr/>
        </p:nvSpPr>
        <p:spPr>
          <a:xfrm>
            <a:off x="3186684" y="2185416"/>
            <a:ext cx="512064" cy="51206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12" name="Image 1" descr="/Users/mahadev/Downloads/ProofSnap-main/pitch/icons/magn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459" y="2303191"/>
            <a:ext cx="276515" cy="27651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628900" y="283464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B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2628900" y="3081528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Residual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2647188" y="3593592"/>
            <a:ext cx="15910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regions unnaturally clean for their detail level — the signature of generated content.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489704" y="1965960"/>
            <a:ext cx="1847088" cy="2788920"/>
          </a:xfrm>
          <a:prstGeom prst="roundRect">
            <a:avLst>
              <a:gd name="adj" fmla="val 4455"/>
            </a:avLst>
          </a:prstGeom>
          <a:solidFill>
            <a:srgbClr val="F0F4F7"/>
          </a:solidFill>
          <a:ln/>
        </p:spPr>
      </p:sp>
      <p:sp>
        <p:nvSpPr>
          <p:cNvPr id="17" name="Shape 13"/>
          <p:cNvSpPr/>
          <p:nvPr/>
        </p:nvSpPr>
        <p:spPr>
          <a:xfrm>
            <a:off x="5157216" y="2185416"/>
            <a:ext cx="512064" cy="51206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18" name="Image 2" descr="/Users/mahadev/Downloads/ProofSnap-main/pitch/icon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991" y="2303191"/>
            <a:ext cx="276515" cy="27651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99432" y="283464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C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599432" y="3081528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/ ELA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4617720" y="3593592"/>
            <a:ext cx="15910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Recompression error inconsistent with local detail — catches splices and pasted portraits.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6460236" y="1965960"/>
            <a:ext cx="1847088" cy="2788920"/>
          </a:xfrm>
          <a:prstGeom prst="roundRect">
            <a:avLst>
              <a:gd name="adj" fmla="val 4455"/>
            </a:avLst>
          </a:prstGeom>
          <a:solidFill>
            <a:srgbClr val="F0F4F7"/>
          </a:solidFill>
          <a:ln/>
        </p:spPr>
      </p:sp>
      <p:sp>
        <p:nvSpPr>
          <p:cNvPr id="23" name="Shape 18"/>
          <p:cNvSpPr/>
          <p:nvPr/>
        </p:nvSpPr>
        <p:spPr>
          <a:xfrm>
            <a:off x="7127748" y="2185416"/>
            <a:ext cx="512064" cy="51206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24" name="Image 3" descr="/Users/mahadev/Downloads/ProofSnap-main/pitch/icons/camer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523" y="2303191"/>
            <a:ext cx="276515" cy="27651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69964" y="283464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D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6569964" y="3081528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Attestation</a:t>
            </a:r>
            <a:endParaRPr lang="en-US" sz="1250" dirty="0"/>
          </a:p>
        </p:txBody>
      </p:sp>
      <p:sp>
        <p:nvSpPr>
          <p:cNvPr id="27" name="Text 21"/>
          <p:cNvSpPr txBox="1"/>
          <p:nvPr/>
        </p:nvSpPr>
        <p:spPr>
          <a:xfrm>
            <a:off x="6588252" y="3593592"/>
            <a:ext cx="15910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vs. upload. Raises confidence only — never counted as evidence of fakery.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8430768" y="1965960"/>
            <a:ext cx="1847088" cy="2788920"/>
          </a:xfrm>
          <a:prstGeom prst="roundRect">
            <a:avLst>
              <a:gd name="adj" fmla="val 4455"/>
            </a:avLst>
          </a:prstGeom>
          <a:solidFill>
            <a:srgbClr val="F0F4F7"/>
          </a:solidFill>
          <a:ln/>
        </p:spPr>
      </p:sp>
      <p:sp>
        <p:nvSpPr>
          <p:cNvPr id="29" name="Shape 23"/>
          <p:cNvSpPr/>
          <p:nvPr/>
        </p:nvSpPr>
        <p:spPr>
          <a:xfrm>
            <a:off x="9098280" y="2185416"/>
            <a:ext cx="512064" cy="51206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30" name="Image 4" descr="/Users/mahadev/Downloads/ProofSnap-main/pitch/icons/usershie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6055" y="2303191"/>
            <a:ext cx="276515" cy="27651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540496" y="283464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E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8540496" y="3081528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Match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8558784" y="3593592"/>
            <a:ext cx="15910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ArcFace similarity between the ID photo and the selfie — the identity axis.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0" y="4828032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35" name="Shape 28"/>
          <p:cNvSpPr/>
          <p:nvPr/>
        </p:nvSpPr>
        <p:spPr>
          <a:xfrm>
            <a:off x="548640" y="5138928"/>
            <a:ext cx="10177272" cy="777240"/>
          </a:xfrm>
          <a:prstGeom prst="roundRect">
            <a:avLst>
              <a:gd name="adj" fmla="val 11765"/>
            </a:avLst>
          </a:prstGeom>
          <a:solidFill>
            <a:srgbClr val="0B1C2C"/>
          </a:solidFill>
          <a:ln/>
        </p:spPr>
      </p:sp>
      <p:sp>
        <p:nvSpPr>
          <p:cNvPr id="36" name="Shape 29"/>
          <p:cNvSpPr/>
          <p:nvPr/>
        </p:nvSpPr>
        <p:spPr>
          <a:xfrm>
            <a:off x="777240" y="5298948"/>
            <a:ext cx="457200" cy="457200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37" name="Image 5" descr="/Users/mahadev/Downloads/ProofSnap-main/pitch/icons/sca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110" y="5401818"/>
            <a:ext cx="251460" cy="25146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1417320" y="52486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Judge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1417320" y="5522976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Cross-checks usable lanes · abstains on disagreement · explainable by construction, not a black box</a:t>
            </a:r>
            <a:endParaRPr lang="en-US" sz="1100" dirty="0"/>
          </a:p>
        </p:txBody>
      </p:sp>
      <p:sp>
        <p:nvSpPr>
          <p:cNvPr id="40" name="Text 32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axes. Never one blended score.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real photo of the wrong person” and “an AI selfie of the right person” are different failures.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246120" cy="1965960"/>
          </a:xfrm>
          <a:prstGeom prst="roundRect">
            <a:avLst>
              <a:gd name="adj" fmla="val 4651"/>
            </a:avLst>
          </a:prstGeom>
          <a:solidFill>
            <a:srgbClr val="12314A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331720"/>
            <a:ext cx="457200" cy="457200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7" name="Image 0" descr="/Users/mahadev/Downloads/ProofSnap-main/pitch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" y="2434590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236829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AUTHENTICITY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926080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3291840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LIKELY_FAKE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3657600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INSUFFICIENT_EVIDENCE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14216" y="2148840"/>
            <a:ext cx="3246120" cy="1965960"/>
          </a:xfrm>
          <a:prstGeom prst="roundRect">
            <a:avLst>
              <a:gd name="adj" fmla="val 4651"/>
            </a:avLst>
          </a:prstGeom>
          <a:solidFill>
            <a:srgbClr val="12314A"/>
          </a:solidFill>
          <a:ln/>
        </p:spPr>
      </p:sp>
      <p:sp>
        <p:nvSpPr>
          <p:cNvPr id="13" name="Shape 10"/>
          <p:cNvSpPr/>
          <p:nvPr/>
        </p:nvSpPr>
        <p:spPr>
          <a:xfrm>
            <a:off x="4197096" y="2331720"/>
            <a:ext cx="457200" cy="457200"/>
          </a:xfrm>
          <a:prstGeom prst="ellipse">
            <a:avLst/>
          </a:prstGeom>
          <a:solidFill>
            <a:srgbClr val="F4A623"/>
          </a:solidFill>
          <a:ln/>
        </p:spPr>
      </p:sp>
      <p:pic>
        <p:nvPicPr>
          <p:cNvPr id="14" name="Image 1" descr="/Users/mahadev/Downloads/ProofSnap-main/pitch/icons/user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966" y="2434590"/>
            <a:ext cx="251460" cy="2514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791456" y="236829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215384" y="2926080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4215384" y="3291840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4215384" y="3657600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INDETERMINATE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479792" y="2148840"/>
            <a:ext cx="3246120" cy="1965960"/>
          </a:xfrm>
          <a:prstGeom prst="roundRect">
            <a:avLst>
              <a:gd name="adj" fmla="val 4651"/>
            </a:avLst>
          </a:prstGeom>
          <a:solidFill>
            <a:srgbClr val="12314A"/>
          </a:solidFill>
          <a:ln/>
        </p:spPr>
      </p:sp>
      <p:sp>
        <p:nvSpPr>
          <p:cNvPr id="20" name="Shape 16"/>
          <p:cNvSpPr/>
          <p:nvPr/>
        </p:nvSpPr>
        <p:spPr>
          <a:xfrm>
            <a:off x="7662672" y="2331720"/>
            <a:ext cx="457200" cy="457200"/>
          </a:xfrm>
          <a:prstGeom prst="ellipse">
            <a:avLst/>
          </a:prstGeom>
          <a:solidFill>
            <a:srgbClr val="F2545B"/>
          </a:solidFill>
          <a:ln/>
        </p:spPr>
      </p:sp>
      <p:pic>
        <p:nvPicPr>
          <p:cNvPr id="21" name="Image 2" descr="/Users/mahadev/Downloads/ProofSnap-main/pitch/icons/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5542" y="2434590"/>
            <a:ext cx="251460" cy="2514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257032" y="236829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7680960" y="2926080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7680960" y="3291840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7680960" y="3657600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548640" y="4389120"/>
            <a:ext cx="10177272" cy="1417320"/>
          </a:xfrm>
          <a:prstGeom prst="roundRect">
            <a:avLst>
              <a:gd name="adj" fmla="val 6452"/>
            </a:avLst>
          </a:prstGeom>
          <a:solidFill>
            <a:srgbClr val="173447"/>
          </a:solidFill>
          <a:ln w="12700">
            <a:solidFill>
              <a:srgbClr val="0E9C87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77240" y="4553712"/>
            <a:ext cx="548640" cy="548640"/>
          </a:xfrm>
          <a:prstGeom prst="ellipse">
            <a:avLst/>
          </a:prstGeom>
          <a:solidFill>
            <a:srgbClr val="F4A623"/>
          </a:solidFill>
          <a:ln/>
        </p:spPr>
      </p:sp>
      <p:pic>
        <p:nvPicPr>
          <p:cNvPr id="28" name="Image 3" descr="/Users/mahadev/Downloads/ProofSnap-main/pitch/icons/ques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" y="4677156"/>
            <a:ext cx="301752" cy="30175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508760" y="4498848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Abstention is a feature, not a gap.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1508760" y="4828032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independent triggers route to review: unreadable image quality, too few usable lanes, lane disagreement, or a score inside the uncertainty band. A confidently wrong reject locks a real person out of their bank account — refusing to guess is the correct output.</a:t>
            </a:r>
            <a:endParaRPr lang="en-US" sz="1150" dirty="0"/>
          </a:p>
        </p:txBody>
      </p:sp>
      <p:sp>
        <p:nvSpPr>
          <p:cNvPr id="31" name="Text 25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KYC check, start to finish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847088" cy="2606040"/>
          </a:xfrm>
          <a:prstGeom prst="roundRect">
            <a:avLst>
              <a:gd name="adj" fmla="val 4455"/>
            </a:avLst>
          </a:prstGeom>
          <a:solidFill>
            <a:srgbClr val="F0F4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22128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EBB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16152" y="2606040"/>
            <a:ext cx="512064" cy="51206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7" name="Image 0" descr="/Users/mahadev/Downloads/ProofSnap-main/pitch/icons/id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3927" y="2723815"/>
            <a:ext cx="276515" cy="27651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8368" y="327355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Document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76656" y="374904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of the ID card. Gallery import allowed.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400300" y="317754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3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519172" y="2103120"/>
            <a:ext cx="1847088" cy="2606040"/>
          </a:xfrm>
          <a:prstGeom prst="roundRect">
            <a:avLst>
              <a:gd name="adj" fmla="val 4455"/>
            </a:avLst>
          </a:prstGeom>
          <a:solidFill>
            <a:srgbClr val="F0F4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628900" y="22128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EBB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186684" y="2606040"/>
            <a:ext cx="512064" cy="51206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14" name="Image 1" descr="/Users/mahadev/Downloads/ProofSnap-main/pitch/icons/came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459" y="2723815"/>
            <a:ext cx="276515" cy="27651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628900" y="327355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Selfie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2647188" y="374904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Camera-only — no gallery path. Blocks the injection attack.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370832" y="317754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3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4489704" y="2103120"/>
            <a:ext cx="1847088" cy="2606040"/>
          </a:xfrm>
          <a:prstGeom prst="roundRect">
            <a:avLst>
              <a:gd name="adj" fmla="val 4455"/>
            </a:avLst>
          </a:prstGeom>
          <a:solidFill>
            <a:srgbClr val="F0F4F7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599432" y="22128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EBB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157216" y="2606040"/>
            <a:ext cx="512064" cy="51206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21" name="Image 2" descr="/Users/mahadev/Downloads/ProofSnap-main/pitch/icons/lay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991" y="2723815"/>
            <a:ext cx="276515" cy="27651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599432" y="327355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 Lanes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4617720" y="374904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gate, then lanes run in parallel on both images.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6341364" y="317754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3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6460236" y="2103120"/>
            <a:ext cx="1847088" cy="2606040"/>
          </a:xfrm>
          <a:prstGeom prst="roundRect">
            <a:avLst>
              <a:gd name="adj" fmla="val 4455"/>
            </a:avLst>
          </a:prstGeom>
          <a:solidFill>
            <a:srgbClr val="F0F4F7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6569964" y="22128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EBB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7127748" y="2606040"/>
            <a:ext cx="512064" cy="51206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28" name="Image 3" descr="/Users/mahadev/Downloads/ProofSnap-main/pitch/icons/gav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523" y="2723815"/>
            <a:ext cx="276515" cy="276515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569964" y="327355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+ Reasons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6588252" y="374904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axes, per-lane evidence, confidence labelled uncalibrated.</a:t>
            </a:r>
            <a:endParaRPr lang="en-US" sz="900" dirty="0"/>
          </a:p>
        </p:txBody>
      </p:sp>
      <p:sp>
        <p:nvSpPr>
          <p:cNvPr id="31" name="Text 25"/>
          <p:cNvSpPr txBox="1"/>
          <p:nvPr/>
        </p:nvSpPr>
        <p:spPr>
          <a:xfrm>
            <a:off x="8311896" y="317754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3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2" name="Shape 26"/>
          <p:cNvSpPr/>
          <p:nvPr/>
        </p:nvSpPr>
        <p:spPr>
          <a:xfrm>
            <a:off x="8430768" y="2103120"/>
            <a:ext cx="1847088" cy="2606040"/>
          </a:xfrm>
          <a:prstGeom prst="roundRect">
            <a:avLst>
              <a:gd name="adj" fmla="val 4455"/>
            </a:avLst>
          </a:prstGeom>
          <a:solidFill>
            <a:srgbClr val="F0F4F7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8540496" y="22128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EBB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Shape 28"/>
          <p:cNvSpPr/>
          <p:nvPr/>
        </p:nvSpPr>
        <p:spPr>
          <a:xfrm>
            <a:off x="9098280" y="2606040"/>
            <a:ext cx="512064" cy="51206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35" name="Image 4" descr="/Users/mahadev/Downloads/ProofSnap-main/pitch/icons/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6055" y="2723815"/>
            <a:ext cx="276515" cy="276515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8540496" y="3273552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</a:t>
            </a:r>
            <a:endParaRPr lang="en-US" sz="1250" dirty="0"/>
          </a:p>
        </p:txBody>
      </p:sp>
      <p:sp>
        <p:nvSpPr>
          <p:cNvPr id="37" name="Text 30"/>
          <p:cNvSpPr txBox="1"/>
          <p:nvPr/>
        </p:nvSpPr>
        <p:spPr>
          <a:xfrm>
            <a:off x="8558784" y="374904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digest signed + anchored on Sepolia. Auditable, forever.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548640" y="498348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161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app, same image, side by side: /v1/baseline runs a commercial detector and our judge together — the comparison the live demo turns on.</a:t>
            </a:r>
            <a:endParaRPr lang="en-US" sz="1250" dirty="0"/>
          </a:p>
        </p:txBody>
      </p:sp>
      <p:sp>
        <p:nvSpPr>
          <p:cNvPr id="39" name="Text 32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TRAIL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verdict is tamper-proof, not just the photo.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projects stop at “prove the image wasn’t edited.” That says nothing about whether the KYC decision itself was altered afterwards — which is what a regulator or bank actually needs to trust.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6" name="Image 0" descr="/Users/mahadev/Downloads/ProofSnap-main/pitch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510" y="2983230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28620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+ Ed25519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31729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images hashed and signed by a per-device key at capture.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3813048"/>
            <a:ext cx="457200" cy="457200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10" name="Image 1" descr="/Users/mahadev/Downloads/ProofSnap-main/pitch/icons/cu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3915918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8872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digest anchored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1188720" y="410565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of {image hashes + authenticity + identity + decision + confidence + timestamp} written on-chain — not just the photo hash.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4745736"/>
            <a:ext cx="457200" cy="457200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14" name="Image 2" descr="/Users/mahadev/Downloads/ProofSnap-main/pitch/icons/l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" y="4848606"/>
            <a:ext cx="251460" cy="2514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88720" y="47274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Sepolia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1188720" y="503834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Data-only self-transfer, ABI-encoded payload. No contract deploy required.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5989320" y="1691640"/>
            <a:ext cx="4754880" cy="3977640"/>
          </a:xfrm>
          <a:prstGeom prst="roundRect">
            <a:avLst>
              <a:gd name="adj" fmla="val 2759"/>
            </a:avLst>
          </a:prstGeom>
          <a:solidFill>
            <a:srgbClr val="12314A"/>
          </a:solidFill>
          <a:ln/>
        </p:spPr>
      </p:sp>
      <p:sp>
        <p:nvSpPr>
          <p:cNvPr id="18" name="Shape 13"/>
          <p:cNvSpPr/>
          <p:nvPr/>
        </p:nvSpPr>
        <p:spPr>
          <a:xfrm>
            <a:off x="6153912" y="1856232"/>
            <a:ext cx="201168" cy="22860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19" name="Shape 14"/>
          <p:cNvSpPr/>
          <p:nvPr/>
        </p:nvSpPr>
        <p:spPr>
          <a:xfrm>
            <a:off x="6153912" y="1856232"/>
            <a:ext cx="22860" cy="201168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20" name="Shape 15"/>
          <p:cNvSpPr/>
          <p:nvPr/>
        </p:nvSpPr>
        <p:spPr>
          <a:xfrm>
            <a:off x="10378440" y="1856232"/>
            <a:ext cx="201168" cy="22860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21" name="Shape 16"/>
          <p:cNvSpPr/>
          <p:nvPr/>
        </p:nvSpPr>
        <p:spPr>
          <a:xfrm>
            <a:off x="10556748" y="1856232"/>
            <a:ext cx="22860" cy="201168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22" name="Shape 17"/>
          <p:cNvSpPr/>
          <p:nvPr/>
        </p:nvSpPr>
        <p:spPr>
          <a:xfrm>
            <a:off x="6153912" y="5481828"/>
            <a:ext cx="201168" cy="22860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23" name="Shape 18"/>
          <p:cNvSpPr/>
          <p:nvPr/>
        </p:nvSpPr>
        <p:spPr>
          <a:xfrm>
            <a:off x="6153912" y="5303520"/>
            <a:ext cx="22860" cy="201168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24" name="Shape 19"/>
          <p:cNvSpPr/>
          <p:nvPr/>
        </p:nvSpPr>
        <p:spPr>
          <a:xfrm>
            <a:off x="10378440" y="5481828"/>
            <a:ext cx="201168" cy="22860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25" name="Shape 20"/>
          <p:cNvSpPr/>
          <p:nvPr/>
        </p:nvSpPr>
        <p:spPr>
          <a:xfrm>
            <a:off x="10556748" y="5303520"/>
            <a:ext cx="22860" cy="201168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635508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2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RECORD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6355080" y="25146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authenticity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8275320" y="2514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6355080" y="293522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identity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8275320" y="29352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6355080" y="335584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8275320" y="335584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6355080" y="377647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8275320" y="377647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0.91 (uncalibrated)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6355080" y="419709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anchor_tx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8275320" y="419709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0x7fa2…e91c</a:t>
            </a:r>
            <a:endParaRPr lang="en-US" sz="1100" dirty="0"/>
          </a:p>
        </p:txBody>
      </p:sp>
      <p:sp>
        <p:nvSpPr>
          <p:cNvPr id="37" name="Text 32"/>
          <p:cNvSpPr txBox="1"/>
          <p:nvPr/>
        </p:nvSpPr>
        <p:spPr>
          <a:xfrm>
            <a:off x="6355080" y="46177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8275320" y="46177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 · 11155111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6355080" y="5120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8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once anchored. Any later edit to this record is detectable.</a:t>
            </a:r>
            <a:endParaRPr lang="en-US" sz="1000" dirty="0"/>
          </a:p>
        </p:txBody>
      </p:sp>
      <p:sp>
        <p:nvSpPr>
          <p:cNvPr id="40" name="Text 35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DON’T CLAIM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honesty is part of the design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161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will test the edges. We’d rather show them ourselves.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4937760" cy="1874520"/>
          </a:xfrm>
          <a:prstGeom prst="roundRect">
            <a:avLst>
              <a:gd name="adj" fmla="val 4878"/>
            </a:avLst>
          </a:prstGeom>
          <a:solidFill>
            <a:srgbClr val="F0F4F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2304288"/>
            <a:ext cx="457200" cy="457200"/>
          </a:xfrm>
          <a:prstGeom prst="ellipse">
            <a:avLst/>
          </a:prstGeom>
          <a:solidFill>
            <a:srgbClr val="0E9C87"/>
          </a:solidFill>
          <a:ln/>
        </p:spPr>
      </p:sp>
      <p:pic>
        <p:nvPicPr>
          <p:cNvPr id="7" name="Image 0" descr="/Users/mahadev/Downloads/ProofSnap-main/pitch/icons/inf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2407158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53312" y="23042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novelty claim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85292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161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ELA, noise residuals, patch classifiers are established forensics. Our contribution is the KYC-specific system and the abstention design, not a new algorithm.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5788152" y="2103120"/>
            <a:ext cx="4937760" cy="1874520"/>
          </a:xfrm>
          <a:prstGeom prst="roundRect">
            <a:avLst>
              <a:gd name="adj" fmla="val 4878"/>
            </a:avLst>
          </a:prstGeom>
          <a:solidFill>
            <a:srgbClr val="F0F4F7"/>
          </a:solidFill>
          <a:ln/>
        </p:spPr>
      </p:sp>
      <p:sp>
        <p:nvSpPr>
          <p:cNvPr id="11" name="Shape 8"/>
          <p:cNvSpPr/>
          <p:nvPr/>
        </p:nvSpPr>
        <p:spPr>
          <a:xfrm>
            <a:off x="5989320" y="2304288"/>
            <a:ext cx="457200" cy="457200"/>
          </a:xfrm>
          <a:prstGeom prst="ellipse">
            <a:avLst/>
          </a:prstGeom>
          <a:solidFill>
            <a:srgbClr val="0E9C87"/>
          </a:solidFill>
          <a:ln/>
        </p:spPr>
      </p:sp>
      <p:pic>
        <p:nvPicPr>
          <p:cNvPr id="12" name="Image 1" descr="/Users/mahadev/Downloads/ProofSnap-main/pitch/icons/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190" y="2407158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92824" y="23042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uncalibrated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6007608" y="285292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161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is flagged confidence_is_calibrated: false until a held-out calibration set exists. We never present raw lane agreement as a probability.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548640" y="4206240"/>
            <a:ext cx="4937760" cy="1874520"/>
          </a:xfrm>
          <a:prstGeom prst="roundRect">
            <a:avLst>
              <a:gd name="adj" fmla="val 4878"/>
            </a:avLst>
          </a:prstGeom>
          <a:solidFill>
            <a:srgbClr val="F0F4F7"/>
          </a:solidFill>
          <a:ln/>
        </p:spPr>
      </p:sp>
      <p:sp>
        <p:nvSpPr>
          <p:cNvPr id="16" name="Shape 12"/>
          <p:cNvSpPr/>
          <p:nvPr/>
        </p:nvSpPr>
        <p:spPr>
          <a:xfrm>
            <a:off x="749808" y="4407408"/>
            <a:ext cx="457200" cy="457200"/>
          </a:xfrm>
          <a:prstGeom prst="ellipse">
            <a:avLst/>
          </a:prstGeom>
          <a:solidFill>
            <a:srgbClr val="0E9C87"/>
          </a:solidFill>
          <a:ln/>
        </p:spPr>
      </p:sp>
      <p:pic>
        <p:nvPicPr>
          <p:cNvPr id="17" name="Image 2" descr="/Users/mahadev/Downloads/ProofSnap-main/pitch/icons/eyes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" y="4510278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53312" y="4407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isn’t verified yet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768096" y="495604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161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“live capture” flag is currently client-asserted. We refuse to grant it a confidence bonus server-side until a signed nonce makes it real — caught and fixed mid-build.</a:t>
            </a:r>
            <a:endParaRPr lang="en-US" sz="1080" dirty="0"/>
          </a:p>
        </p:txBody>
      </p:sp>
      <p:sp>
        <p:nvSpPr>
          <p:cNvPr id="20" name="Shape 15"/>
          <p:cNvSpPr/>
          <p:nvPr/>
        </p:nvSpPr>
        <p:spPr>
          <a:xfrm>
            <a:off x="5788152" y="4206240"/>
            <a:ext cx="4937760" cy="1874520"/>
          </a:xfrm>
          <a:prstGeom prst="roundRect">
            <a:avLst>
              <a:gd name="adj" fmla="val 4878"/>
            </a:avLst>
          </a:prstGeom>
          <a:solidFill>
            <a:srgbClr val="F0F4F7"/>
          </a:solidFill>
          <a:ln/>
        </p:spPr>
      </p:sp>
      <p:sp>
        <p:nvSpPr>
          <p:cNvPr id="21" name="Shape 16"/>
          <p:cNvSpPr/>
          <p:nvPr/>
        </p:nvSpPr>
        <p:spPr>
          <a:xfrm>
            <a:off x="5989320" y="4407408"/>
            <a:ext cx="457200" cy="457200"/>
          </a:xfrm>
          <a:prstGeom prst="ellipse">
            <a:avLst/>
          </a:prstGeom>
          <a:solidFill>
            <a:srgbClr val="0E9C87"/>
          </a:solidFill>
          <a:ln/>
        </p:spPr>
      </p:sp>
      <p:pic>
        <p:nvPicPr>
          <p:cNvPr id="22" name="Image 3" descr="/Users/mahadev/Downloads/ProofSnap-main/pitch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2190" y="4510278"/>
            <a:ext cx="251460" cy="25146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592824" y="4407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lanes still need training data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6007608" y="495604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161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A and Lane E need optional weights. Absent them, they abstain cleanly and lanes B/C carry the verdict — the system never fails open.</a:t>
            </a:r>
            <a:endParaRPr lang="en-US" sz="1080" dirty="0"/>
          </a:p>
        </p:txBody>
      </p:sp>
      <p:sp>
        <p:nvSpPr>
          <p:cNvPr id="25" name="Text 19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VERILENS STANDS OUT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Others tell you if an image looks fake.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tell you whether to trust the applicant —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prove we said so.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3063240"/>
            <a:ext cx="420624" cy="42062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5" name="Image 0" descr="/Users/mahadev/Downloads/ProofSnap-main/pitch/icons/id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4720" y="3157880"/>
            <a:ext cx="231343" cy="2313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308152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+ selfie, face-matched — real KYC, not a generic upload box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3630168"/>
            <a:ext cx="420624" cy="42062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8" name="Image 1" descr="/Users/mahadev/Downloads/ProofSnap-main/pitch/icons/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720" y="3724808"/>
            <a:ext cx="231343" cy="231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36484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 documented, published blind spot — not a vague novelty claim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40080" y="4197096"/>
            <a:ext cx="420624" cy="42062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11" name="Image 2" descr="/Users/mahadev/Downloads/ProofSnap-main/pitch/icons/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720" y="4291736"/>
            <a:ext cx="231343" cy="231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42153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Per-lane reasoning and honest abstention — never a forced guess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40080" y="4764024"/>
            <a:ext cx="420624" cy="420624"/>
          </a:xfrm>
          <a:prstGeom prst="ellipse">
            <a:avLst/>
          </a:prstGeom>
          <a:solidFill>
            <a:srgbClr val="22D3B8"/>
          </a:solidFill>
          <a:ln/>
        </p:spPr>
      </p:sp>
      <p:pic>
        <p:nvPicPr>
          <p:cNvPr id="14" name="Image 3" descr="/Users/mahadev/Downloads/ProofSnap-main/pitch/icons/l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20" y="4858664"/>
            <a:ext cx="231343" cy="23134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47823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itself is signed and anchored — a real audit trail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0" y="58064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welcome.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2026-09-05T01:14:46Z</dcterms:created>
  <dcterms:modified xsi:type="dcterms:W3CDTF">2026-09-05T01:14:46Z</dcterms:modified>
</cp:coreProperties>
</file>